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1344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1CB9D"/>
    <a:srgbClr val="587EAC"/>
    <a:srgbClr val="E0E7F0"/>
    <a:srgbClr val="A6BAD3"/>
    <a:srgbClr val="CFDAE7"/>
    <a:srgbClr val="123F8A"/>
    <a:srgbClr val="BFD0E2"/>
    <a:srgbClr val="F2D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10" autoAdjust="0"/>
    <p:restoredTop sz="95531" autoAdjust="0"/>
  </p:normalViewPr>
  <p:slideViewPr>
    <p:cSldViewPr snapToGrid="0" showGuides="1">
      <p:cViewPr varScale="1">
        <p:scale>
          <a:sx n="127" d="100"/>
          <a:sy n="127" d="100"/>
        </p:scale>
        <p:origin x="720" y="184"/>
      </p:cViewPr>
      <p:guideLst>
        <p:guide orient="horz" pos="13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notesViewPr>
    <p:cSldViewPr snapToGrid="0" showGuides="1">
      <p:cViewPr varScale="1">
        <p:scale>
          <a:sx n="81" d="100"/>
          <a:sy n="81" d="100"/>
        </p:scale>
        <p:origin x="30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26DCF-1716-484D-9C58-882373CAEEA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0DA2B-892C-4FCF-91BB-9CADED816C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6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E1E8-2192-DDAB-4005-E2FCC9C1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1638F6-040A-61D7-58E6-2D47D4A3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A57E-B8C7-C607-3735-927708ED2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BD000-F6C5-7D1E-E5D3-88DC9EE7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48A19-E83C-4C22-9205-EB160126E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8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7B05C87-D165-51D6-36F8-16BC31906585}"/>
              </a:ext>
            </a:extLst>
          </p:cNvPr>
          <p:cNvGrpSpPr/>
          <p:nvPr userDrawn="1"/>
        </p:nvGrpSpPr>
        <p:grpSpPr>
          <a:xfrm>
            <a:off x="-4121892" y="-16957"/>
            <a:ext cx="3862284" cy="4018251"/>
            <a:chOff x="-5226792" y="-3449235"/>
            <a:chExt cx="3862284" cy="4018251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349A59A-3BC3-20C0-B4A2-78B90D53FCC8}"/>
                </a:ext>
              </a:extLst>
            </p:cNvPr>
            <p:cNvSpPr/>
            <p:nvPr/>
          </p:nvSpPr>
          <p:spPr>
            <a:xfrm>
              <a:off x="-5226792" y="-192524"/>
              <a:ext cx="1873992" cy="761540"/>
            </a:xfrm>
            <a:prstGeom prst="rect">
              <a:avLst/>
            </a:prstGeom>
            <a:solidFill>
              <a:srgbClr val="C2D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#C2D1E3</a:t>
              </a:r>
              <a:endParaRPr lang="ko-KR" altLang="en-US" dirty="0"/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EA758A18-1193-A117-A64B-C530B493532C}"/>
                </a:ext>
              </a:extLst>
            </p:cNvPr>
            <p:cNvSpPr/>
            <p:nvPr/>
          </p:nvSpPr>
          <p:spPr>
            <a:xfrm>
              <a:off x="-5226790" y="-963426"/>
              <a:ext cx="1873992" cy="703838"/>
            </a:xfrm>
            <a:prstGeom prst="roundRect">
              <a:avLst>
                <a:gd name="adj" fmla="val 0"/>
              </a:avLst>
            </a:prstGeom>
            <a:solidFill>
              <a:srgbClr val="7F9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#7F9FC8</a:t>
              </a:r>
              <a:endParaRPr lang="ko-KR" altLang="en-US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15653DF-7EF2-F5C8-2819-964CA6196EAB}"/>
                </a:ext>
              </a:extLst>
            </p:cNvPr>
            <p:cNvSpPr/>
            <p:nvPr/>
          </p:nvSpPr>
          <p:spPr>
            <a:xfrm>
              <a:off x="-5226791" y="-3449235"/>
              <a:ext cx="1873992" cy="761540"/>
            </a:xfrm>
            <a:prstGeom prst="rect">
              <a:avLst/>
            </a:prstGeom>
            <a:solidFill>
              <a:srgbClr val="0138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#013882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18074296-84AC-2E51-C2EB-56C57E760855}"/>
                </a:ext>
              </a:extLst>
            </p:cNvPr>
            <p:cNvSpPr/>
            <p:nvPr/>
          </p:nvSpPr>
          <p:spPr>
            <a:xfrm>
              <a:off x="-5226792" y="-2620632"/>
              <a:ext cx="1873992" cy="761540"/>
            </a:xfrm>
            <a:prstGeom prst="rect">
              <a:avLst/>
            </a:prstGeom>
            <a:solidFill>
              <a:srgbClr val="123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#1F4F93</a:t>
              </a:r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B723417-BCD4-D67A-ABF3-1C781C080C75}"/>
                </a:ext>
              </a:extLst>
            </p:cNvPr>
            <p:cNvSpPr/>
            <p:nvPr/>
          </p:nvSpPr>
          <p:spPr>
            <a:xfrm>
              <a:off x="-5226792" y="-1792029"/>
              <a:ext cx="1873992" cy="761540"/>
            </a:xfrm>
            <a:prstGeom prst="rect">
              <a:avLst/>
            </a:prstGeom>
            <a:solidFill>
              <a:srgbClr val="245A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#245A99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DB36C09E-B34E-B0F6-2196-3005FE4A2FD3}"/>
                </a:ext>
              </a:extLst>
            </p:cNvPr>
            <p:cNvSpPr/>
            <p:nvPr userDrawn="1"/>
          </p:nvSpPr>
          <p:spPr>
            <a:xfrm>
              <a:off x="-3238500" y="-3449235"/>
              <a:ext cx="1873992" cy="761540"/>
            </a:xfrm>
            <a:prstGeom prst="rect">
              <a:avLst/>
            </a:prstGeom>
            <a:solidFill>
              <a:srgbClr val="E49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#E49B3F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084090B-7373-4726-9A49-C85E33AE58B3}"/>
                </a:ext>
              </a:extLst>
            </p:cNvPr>
            <p:cNvSpPr/>
            <p:nvPr/>
          </p:nvSpPr>
          <p:spPr>
            <a:xfrm>
              <a:off x="-3238500" y="-2620632"/>
              <a:ext cx="1873992" cy="761540"/>
            </a:xfrm>
            <a:prstGeom prst="rect">
              <a:avLst/>
            </a:prstGeom>
            <a:solidFill>
              <a:srgbClr val="F2C9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#F2C94C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04D8D9-06A5-7570-B8B5-716D161433C4}"/>
              </a:ext>
            </a:extLst>
          </p:cNvPr>
          <p:cNvSpPr/>
          <p:nvPr userDrawn="1"/>
        </p:nvSpPr>
        <p:spPr>
          <a:xfrm>
            <a:off x="12451608" y="682818"/>
            <a:ext cx="2070992" cy="576000"/>
          </a:xfrm>
          <a:prstGeom prst="rect">
            <a:avLst/>
          </a:prstGeom>
          <a:solidFill>
            <a:srgbClr val="0F4A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#0F4A8A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05462A-4409-D97E-8280-58C4BB476056}"/>
              </a:ext>
            </a:extLst>
          </p:cNvPr>
          <p:cNvSpPr/>
          <p:nvPr userDrawn="1"/>
        </p:nvSpPr>
        <p:spPr>
          <a:xfrm>
            <a:off x="12451608" y="1409655"/>
            <a:ext cx="2070992" cy="576000"/>
          </a:xfrm>
          <a:prstGeom prst="rect">
            <a:avLst/>
          </a:prstGeom>
          <a:solidFill>
            <a:srgbClr val="164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#1B5A96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7447DD-D2DC-7743-1749-1807BC43D862}"/>
              </a:ext>
            </a:extLst>
          </p:cNvPr>
          <p:cNvSpPr/>
          <p:nvPr userDrawn="1"/>
        </p:nvSpPr>
        <p:spPr>
          <a:xfrm>
            <a:off x="12451608" y="-44019"/>
            <a:ext cx="2070992" cy="576000"/>
          </a:xfrm>
          <a:prstGeom prst="rect">
            <a:avLst/>
          </a:prstGeom>
          <a:solidFill>
            <a:srgbClr val="0138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#013882</a:t>
            </a:r>
            <a:endParaRPr lang="ko-KR" altLang="en-US" dirty="0">
              <a:solidFill>
                <a:srgbClr val="013882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56C11F-A27E-1D83-3442-EDE136DDA966}"/>
              </a:ext>
            </a:extLst>
          </p:cNvPr>
          <p:cNvSpPr/>
          <p:nvPr userDrawn="1"/>
        </p:nvSpPr>
        <p:spPr>
          <a:xfrm>
            <a:off x="12451608" y="2136493"/>
            <a:ext cx="2070992" cy="576000"/>
          </a:xfrm>
          <a:prstGeom prst="rect">
            <a:avLst/>
          </a:prstGeom>
          <a:solidFill>
            <a:srgbClr val="245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#245A99</a:t>
            </a:r>
            <a:endParaRPr lang="ko-KR" altLang="en-US" dirty="0">
              <a:solidFill>
                <a:srgbClr val="0138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9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45700-C1A0-EC56-E05C-AFB77964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5595D-5F5E-DFFC-C6F9-D4AEBC8C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36CAA-D6E5-D07D-2B36-AE9E1789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48944-27DD-874D-02AC-F6FDAE68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04B92-48BC-C07D-BB00-4DF62339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0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EE5BE-724C-3A2D-930F-C06238D0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F9792-5DBE-EA44-7E29-C1D8B7849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DC3ED-FB8D-98CC-175B-83561CB2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8E21E-A1F5-FF04-A8BF-D57F935D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AEB1-60AD-0995-C13E-B1CFF79C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574C7-6316-DFA7-EAB4-53640650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44CE9-2BC9-A967-3985-F2532E499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59B8C9-4347-37FB-6125-A32EF64F8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55258-A06D-3AB0-2609-53D09F2D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5A3BE9-A4F4-8592-DB05-7AAF76E7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AE219-3BAA-2FBD-9503-66C7211A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0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4E0D-7E5D-53EC-89D3-35D5D1AA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B3BC6-377C-A099-507C-BE39BA659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FFCA5D-1F65-1B6A-5BF9-E9920399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4032AA-4DC1-4DBC-9F9A-66C105DC4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8FDA-8FE9-96FC-877E-18045E4B7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86FAB2-44CD-D0D7-8C4C-0B8F00CEB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7C64D0-E188-1856-0E84-36B23F1F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817763-E4CE-7599-A869-9BDA7810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1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7DBB8-5C2B-EF49-DCFA-12704DA7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4158B1-56E3-1C05-8F33-73E7C39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DE1582-BA75-6AD0-6EA9-A6E2E7EE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E91663-5D18-7287-CB4E-782D3E13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5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EB0960-C962-8822-6F4D-1EC794B0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B2791C-A526-77FA-D2DD-D0F2378A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2B313-996E-1F12-5A61-0B3530FB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9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47A32-DF1F-A694-F1FB-9EE33D69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EF96B-6F1B-2F31-08EC-6374DE94F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270107-7E89-EF3F-7810-E96DE9620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16488-28A4-C1E3-2EE0-6EA74B29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E60868-A59B-050A-5944-805513F5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894AFD-DE3A-E415-DE81-8D397C87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7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A1152-F19D-5C72-2872-11C31AA4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2323DA-49D4-8635-0B25-172335E5D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1ED35F-E555-C03C-8A96-7880D048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167135-C08B-11AB-1326-63F243C2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A3D01-6121-C551-B944-69B6BF7C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D3B3-40E8-73CA-B50A-A7278D6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48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BF5BA-8888-4D7B-ED2F-3BBAD220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0293A3-C166-D782-FE05-33C7C4E1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067F4-D243-6200-7C45-41AE3510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1059D-B163-8AB8-71B8-609CF181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0EA92-0BBE-050E-85A0-005C3230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2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31225F-CD7F-F9FE-134A-511A3ACE4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FDE50-E606-D711-6DA9-537D80677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B5F04-BD1E-084C-8D0F-B9E43B15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7B5197-F66B-1AC9-F65E-AB8227EB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621F8-5981-9F8B-0C68-C1D8F813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6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40205-ABCC-24E6-5B30-AF722B6A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9298-AF24-F546-78DC-38C85A25E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D5B5C-FB58-FC78-08D4-611B043FD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5283A-82ED-BC8E-22D3-FA198A1A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15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5698-F78E-FA5C-F38F-DE854828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2A2B16-08E8-C6F8-60A9-647B03E88E7E}"/>
              </a:ext>
            </a:extLst>
          </p:cNvPr>
          <p:cNvSpPr/>
          <p:nvPr/>
        </p:nvSpPr>
        <p:spPr>
          <a:xfrm>
            <a:off x="480339" y="2991059"/>
            <a:ext cx="5506696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① </a:t>
            </a:r>
            <a:r>
              <a:rPr lang="ko-KR" altLang="en-US" sz="1100" b="1" dirty="0"/>
              <a:t>업무 프로세스 흐름</a:t>
            </a:r>
            <a:endParaRPr lang="en-US" altLang="ko-KR" sz="1100" dirty="0"/>
          </a:p>
          <a:p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ko-KR" altLang="ko-KR" sz="1100" dirty="0"/>
              <a:t>기자 정보 검색 및 기사 수집 → 기사 내용 검토 및 정리 → 정부 정책 및 주요 이슈 모니터링 → 과거 </a:t>
            </a:r>
            <a:r>
              <a:rPr lang="ko-KR" altLang="ko-KR" sz="1100" dirty="0" err="1"/>
              <a:t>보도자료·입장문</a:t>
            </a:r>
            <a:r>
              <a:rPr lang="ko-KR" altLang="ko-KR" sz="1100" dirty="0"/>
              <a:t> 검색 → 분석자료 작성 → 보고서 및 대응자료 작성</a:t>
            </a:r>
            <a:endParaRPr lang="en-US" altLang="ko-KR" sz="1100" dirty="0"/>
          </a:p>
          <a:p>
            <a:endParaRPr lang="ko-KR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b="1" dirty="0"/>
              <a:t>② Pain Point</a:t>
            </a:r>
          </a:p>
          <a:p>
            <a:r>
              <a:rPr lang="ko-KR" altLang="ko-KR" sz="1100" b="1" dirty="0"/>
              <a:t>[환경]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언론</a:t>
            </a:r>
            <a:r>
              <a:rPr lang="en-US" altLang="ko-KR" sz="1100" dirty="0"/>
              <a:t>. </a:t>
            </a:r>
            <a:r>
              <a:rPr lang="ko-KR" altLang="ko-KR" sz="1100" dirty="0"/>
              <a:t>환경</a:t>
            </a:r>
            <a:r>
              <a:rPr lang="en-US" altLang="ko-KR" sz="1100" dirty="0"/>
              <a:t>. </a:t>
            </a:r>
            <a:r>
              <a:rPr lang="ko-KR" altLang="ko-KR" sz="1100" dirty="0"/>
              <a:t>및 정책 변화</a:t>
            </a:r>
            <a:r>
              <a:rPr lang="en-US" altLang="ko-KR" sz="1100" dirty="0"/>
              <a:t>. </a:t>
            </a:r>
            <a:r>
              <a:rPr lang="ko-KR" altLang="ko-KR" sz="1100" dirty="0"/>
              <a:t>속도가 빨라지고 있으며, 기업 평판 및 대외 커뮤니케이션의 중요성이</a:t>
            </a:r>
            <a:r>
              <a:rPr lang="en-US" altLang="ko-KR" sz="1100" dirty="0"/>
              <a:t>. </a:t>
            </a:r>
            <a:r>
              <a:rPr lang="ko-KR" altLang="ko-KR" sz="1100" dirty="0"/>
              <a:t>지속적으로 증가하고 있음.</a:t>
            </a:r>
            <a:endParaRPr lang="en-US" altLang="ko-KR" sz="1100" dirty="0"/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특히</a:t>
            </a:r>
            <a:r>
              <a:rPr lang="en-US" altLang="ko-KR" sz="1100" dirty="0"/>
              <a:t>,</a:t>
            </a:r>
            <a:r>
              <a:rPr lang="ko-KR" altLang="ko-KR" sz="1100" dirty="0"/>
              <a:t> </a:t>
            </a:r>
            <a:r>
              <a:rPr lang="ko-KR" altLang="ko-KR" sz="1100" dirty="0" err="1"/>
              <a:t>기자별</a:t>
            </a:r>
            <a:r>
              <a:rPr lang="ko-KR" altLang="ko-KR" sz="1100" dirty="0"/>
              <a:t> 관심사, 정부 정책 방향, 사회적 이슈에 대한 신속한 분석 및 대응 역량이 기업 경쟁력의 핵심 요소로 부상하고 있음.</a:t>
            </a:r>
            <a:endParaRPr lang="en-US" altLang="ko-KR" sz="1100" b="1" dirty="0"/>
          </a:p>
          <a:p>
            <a:r>
              <a:rPr lang="ko-KR" altLang="ko-KR" sz="1100" b="1" dirty="0"/>
              <a:t>[한계]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기자 정보 및 기사 분석을 개별 검색에 의존하여 정보 수집 시간이 과다 소요됨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정부 정책 및 주요 인사 발언 모니터링이 수작업 중심으로 수행됨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과거 보도자료, </a:t>
            </a:r>
            <a:r>
              <a:rPr lang="ko-KR" altLang="ko-KR" sz="1100" dirty="0" err="1"/>
              <a:t>입장문</a:t>
            </a:r>
            <a:r>
              <a:rPr lang="ko-KR" altLang="ko-KR" sz="1100" dirty="0"/>
              <a:t> 등 내부 자료 검색이 비효율적임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이슈 발생 시 사업회사별 영향도 및 대응 메시지 도출에 많은 시간이 필요함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데이터 수집, 분석, 보고서 작성 업무가 반복적으로 발생하여 업무 생산성이 저하됨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25C036-788E-B228-8059-69F0A265F750}"/>
              </a:ext>
            </a:extLst>
          </p:cNvPr>
          <p:cNvSpPr/>
          <p:nvPr/>
        </p:nvSpPr>
        <p:spPr>
          <a:xfrm>
            <a:off x="6204968" y="2991059"/>
            <a:ext cx="5489194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>
              <a:defRPr/>
            </a:pPr>
            <a:r>
              <a:rPr lang="en-US" altLang="ko-KR" sz="1100" b="1" dirty="0"/>
              <a:t>① Agent </a:t>
            </a:r>
            <a:r>
              <a:rPr lang="ko-KR" altLang="en-US" sz="1100" b="1" dirty="0"/>
              <a:t>기반 업무 프로세스</a:t>
            </a:r>
            <a:endParaRPr lang="en-US" altLang="ko-KR" sz="1100" b="1" dirty="0"/>
          </a:p>
          <a:p>
            <a:pPr>
              <a:defRPr/>
            </a:pP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en-US" altLang="ko-KR" sz="1100" dirty="0"/>
              <a:t>API </a:t>
            </a:r>
            <a:r>
              <a:rPr lang="ko-KR" altLang="en-US" sz="1100" dirty="0"/>
              <a:t>및 </a:t>
            </a:r>
            <a:r>
              <a:rPr lang="ko-KR" altLang="en-US" sz="1100" dirty="0" err="1"/>
              <a:t>웹크롤으로</a:t>
            </a:r>
            <a:r>
              <a:rPr lang="ko-KR" altLang="en-US" sz="1100" dirty="0"/>
              <a:t> 데이터 수집 </a:t>
            </a:r>
            <a:r>
              <a:rPr lang="en-US" altLang="ko-KR" sz="1100" dirty="0">
                <a:sym typeface="Wingdings" pitchFamily="2" charset="2"/>
              </a:rPr>
              <a:t></a:t>
            </a:r>
            <a:r>
              <a:rPr lang="ko-KR" altLang="en-US" sz="1100" dirty="0">
                <a:sym typeface="Wingdings" pitchFamily="2" charset="2"/>
              </a:rPr>
              <a:t> </a:t>
            </a:r>
            <a:r>
              <a:rPr lang="ko-KR" altLang="en-US" sz="1100" dirty="0" err="1">
                <a:sym typeface="Wingdings" pitchFamily="2" charset="2"/>
              </a:rPr>
              <a:t>데시보드에</a:t>
            </a:r>
            <a:r>
              <a:rPr lang="ko-KR" altLang="en-US" sz="1100" dirty="0">
                <a:sym typeface="Wingdings" pitchFamily="2" charset="2"/>
              </a:rPr>
              <a:t> 데이터 디스플레이 </a:t>
            </a:r>
            <a:r>
              <a:rPr lang="en-US" altLang="ko-KR" sz="1100" dirty="0">
                <a:sym typeface="Wingdings" pitchFamily="2" charset="2"/>
              </a:rPr>
              <a:t></a:t>
            </a:r>
            <a:r>
              <a:rPr lang="ko-KR" altLang="en-US" sz="1100" dirty="0">
                <a:sym typeface="Wingdings" pitchFamily="2" charset="2"/>
              </a:rPr>
              <a:t> </a:t>
            </a:r>
            <a:r>
              <a:rPr lang="en-US" altLang="ko-KR" sz="1100" dirty="0">
                <a:sym typeface="Wingdings" pitchFamily="2" charset="2"/>
              </a:rPr>
              <a:t>LLM </a:t>
            </a:r>
            <a:r>
              <a:rPr lang="ko-KR" altLang="en-US" sz="1100" dirty="0">
                <a:sym typeface="Wingdings" pitchFamily="2" charset="2"/>
              </a:rPr>
              <a:t>분석</a:t>
            </a:r>
            <a:r>
              <a:rPr lang="en-US" altLang="ko-KR" sz="1100" dirty="0">
                <a:sym typeface="Wingdings" pitchFamily="2" charset="2"/>
              </a:rPr>
              <a:t>  </a:t>
            </a:r>
            <a:r>
              <a:rPr lang="ko-KR" altLang="en-US" sz="1100" dirty="0" err="1"/>
              <a:t>웹앱</a:t>
            </a:r>
            <a:r>
              <a:rPr lang="ko-KR" altLang="en-US" sz="1100" dirty="0"/>
              <a:t> </a:t>
            </a:r>
            <a:r>
              <a:rPr lang="en-US" altLang="ko-KR" sz="1100" dirty="0"/>
              <a:t>Agent</a:t>
            </a:r>
            <a:r>
              <a:rPr lang="ko-KR" altLang="en-US" sz="1100" dirty="0"/>
              <a:t>로</a:t>
            </a:r>
            <a:r>
              <a:rPr lang="en-US" altLang="ko-KR" sz="1100" dirty="0"/>
              <a:t> </a:t>
            </a:r>
            <a:r>
              <a:rPr lang="ko-KR" altLang="en-US" sz="1100" dirty="0"/>
              <a:t>디스플레이</a:t>
            </a:r>
            <a:r>
              <a:rPr lang="en-US" altLang="ko-KR" sz="1100" dirty="0"/>
              <a:t>(PC/</a:t>
            </a:r>
            <a:r>
              <a:rPr lang="ko-KR" altLang="en-US" sz="1100" dirty="0"/>
              <a:t>모바일 앱 제공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>
              <a:defRPr/>
            </a:pPr>
            <a:endParaRPr lang="ko-KR" altLang="en-US" sz="1100" dirty="0"/>
          </a:p>
          <a:p>
            <a:pPr>
              <a:defRPr/>
            </a:pPr>
            <a:r>
              <a:rPr lang="en-US" altLang="ko-KR" sz="1100" b="1" dirty="0"/>
              <a:t>② </a:t>
            </a:r>
            <a:r>
              <a:rPr lang="ko-KR" altLang="en-US" sz="1100" b="1" dirty="0"/>
              <a:t>주요 개발 내용</a:t>
            </a:r>
            <a:endParaRPr lang="en-US" altLang="ko-KR" sz="1100" dirty="0"/>
          </a:p>
          <a:p>
            <a:pPr>
              <a:defRPr/>
            </a:pPr>
            <a:r>
              <a:rPr lang="ko-KR" altLang="ko-KR" sz="1100" dirty="0" err="1"/>
              <a:t>AI를</a:t>
            </a:r>
            <a:r>
              <a:rPr lang="ko-KR" altLang="ko-KR" sz="1100" dirty="0"/>
              <a:t> 활용하여 </a:t>
            </a:r>
            <a:r>
              <a:rPr lang="ko-KR" altLang="ko-KR" sz="1100" dirty="0" err="1"/>
              <a:t>경쟁사·시장·인사노무</a:t>
            </a:r>
            <a:r>
              <a:rPr lang="ko-KR" altLang="ko-KR" sz="1100" dirty="0"/>
              <a:t> 정보를 통합 </a:t>
            </a:r>
            <a:r>
              <a:rPr lang="ko-KR" altLang="ko-KR" sz="1100" dirty="0" err="1"/>
              <a:t>수집·분석하는</a:t>
            </a:r>
            <a:r>
              <a:rPr lang="ko-KR" altLang="ko-KR" sz="1100" dirty="0"/>
              <a:t> 의사결정 지원 플랫폼을 구축함.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en-US" altLang="ko-KR" sz="1100" dirty="0"/>
              <a:t>AI </a:t>
            </a:r>
            <a:r>
              <a:rPr lang="ko-KR" altLang="en-US" sz="1100" dirty="0"/>
              <a:t>기반 경쟁사 동향 대시보드를 구축하여 경쟁사 정보와 시장 동향을 자동 분석</a:t>
            </a:r>
            <a:r>
              <a:rPr lang="en-US" altLang="ko-KR" sz="1100" dirty="0"/>
              <a:t>  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환율</a:t>
            </a:r>
            <a:r>
              <a:rPr lang="en-US" altLang="ko-KR" sz="1100" dirty="0"/>
              <a:t>·</a:t>
            </a:r>
            <a:r>
              <a:rPr lang="ko-KR" altLang="en-US" sz="1100" dirty="0"/>
              <a:t>원자재</a:t>
            </a:r>
            <a:r>
              <a:rPr lang="en-US" altLang="ko-KR" sz="1100" dirty="0"/>
              <a:t>·</a:t>
            </a:r>
            <a:r>
              <a:rPr lang="ko-KR" altLang="en-US" sz="1100" dirty="0"/>
              <a:t>에너지 지표를 활용한 구매 의사결정 지원 모니터링 기능을</a:t>
            </a:r>
            <a:r>
              <a:rPr lang="en-US" altLang="ko-KR" sz="1100" dirty="0"/>
              <a:t> </a:t>
            </a:r>
            <a:r>
              <a:rPr lang="ko-KR" altLang="en-US" sz="1100" dirty="0"/>
              <a:t>개발</a:t>
            </a:r>
            <a:r>
              <a:rPr lang="en-US" altLang="ko-KR" sz="1100" dirty="0"/>
              <a:t>  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인사노무 뉴스와 법령 정보를 기반으로 </a:t>
            </a:r>
            <a:r>
              <a:rPr lang="en-US" altLang="ko-KR" sz="1100" dirty="0"/>
              <a:t>AI </a:t>
            </a:r>
            <a:r>
              <a:rPr lang="ko-KR" altLang="en-US" sz="1100" dirty="0"/>
              <a:t>노무 리스크 브리핑 기능을</a:t>
            </a:r>
            <a:r>
              <a:rPr lang="en-US" altLang="ko-KR" sz="1100" dirty="0"/>
              <a:t> </a:t>
            </a:r>
            <a:r>
              <a:rPr lang="ko-KR" altLang="en-US" sz="1100" dirty="0"/>
              <a:t>구현</a:t>
            </a:r>
            <a:r>
              <a:rPr lang="en-US" altLang="ko-KR" sz="1100" dirty="0"/>
              <a:t>  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다양한 외부 데이터를 실시간 수집</a:t>
            </a:r>
            <a:r>
              <a:rPr lang="en-US" altLang="ko-KR" sz="1100" dirty="0"/>
              <a:t>·</a:t>
            </a:r>
            <a:r>
              <a:rPr lang="ko-KR" altLang="en-US" sz="1100" dirty="0"/>
              <a:t>분석하는 자동화 파이프라인을 구축</a:t>
            </a:r>
            <a:endParaRPr lang="en-US" altLang="ko-KR" sz="1100" dirty="0"/>
          </a:p>
          <a:p>
            <a:pPr>
              <a:defRPr/>
            </a:pPr>
            <a:endParaRPr lang="en-US" altLang="ko-KR" sz="1100" b="1" dirty="0"/>
          </a:p>
          <a:p>
            <a:pPr>
              <a:defRPr/>
            </a:pPr>
            <a:r>
              <a:rPr lang="en-US" altLang="ko-KR" sz="1100" b="1" dirty="0"/>
              <a:t>③ </a:t>
            </a:r>
            <a:r>
              <a:rPr lang="ko-KR" altLang="en-US" sz="1100" b="1" dirty="0"/>
              <a:t>기대효과</a:t>
            </a:r>
            <a:endParaRPr lang="en-US" altLang="ko-KR" sz="1100" b="1" dirty="0"/>
          </a:p>
          <a:p>
            <a:pPr>
              <a:defRPr/>
            </a:pPr>
            <a:r>
              <a:rPr lang="ko-KR" altLang="ko-KR" sz="1100" dirty="0"/>
              <a:t>실시간 정보 제공과 AI 분석 자동화를 통해 의사결정 속도 향상, 리스크 대응 강화, 업무 생산성 증대를 실현함.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경쟁사</a:t>
            </a:r>
            <a:r>
              <a:rPr lang="en-US" altLang="ko-KR" sz="1100" dirty="0"/>
              <a:t>, </a:t>
            </a:r>
            <a:r>
              <a:rPr lang="ko-KR" altLang="en-US" sz="1100" dirty="0"/>
              <a:t>시장 및 노무 관련 정보를 실시간으로 통합 제공하여 경영진의 신속한 의사결정을 지원함</a:t>
            </a:r>
            <a:r>
              <a:rPr lang="en-US" altLang="ko-KR" sz="1100" dirty="0"/>
              <a:t>.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원자재</a:t>
            </a:r>
            <a:r>
              <a:rPr lang="en-US" altLang="ko-KR" sz="1100" dirty="0"/>
              <a:t>·</a:t>
            </a:r>
            <a:r>
              <a:rPr lang="ko-KR" altLang="en-US" sz="1100" dirty="0"/>
              <a:t>환율</a:t>
            </a:r>
            <a:r>
              <a:rPr lang="en-US" altLang="ko-KR" sz="1100" dirty="0"/>
              <a:t>·</a:t>
            </a:r>
            <a:r>
              <a:rPr lang="ko-KR" altLang="en-US" sz="1100" dirty="0"/>
              <a:t>에너지 가격 변동을 조기에 파악하여 구매 및 원가 리스크 대응 역량을 강화함</a:t>
            </a:r>
            <a:r>
              <a:rPr lang="en-US" altLang="ko-KR" sz="1100" dirty="0"/>
              <a:t>.</a:t>
            </a:r>
          </a:p>
          <a:p>
            <a:pPr>
              <a:defRPr/>
            </a:pPr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en-US" altLang="ko-KR" sz="1100" dirty="0"/>
              <a:t>AI </a:t>
            </a:r>
            <a:r>
              <a:rPr lang="ko-KR" altLang="en-US" sz="1100" dirty="0"/>
              <a:t>기반 자동 분석과 보고서 생성으로 정보 수집</a:t>
            </a:r>
            <a:r>
              <a:rPr lang="en-US" altLang="ko-KR" sz="1100" dirty="0"/>
              <a:t>·</a:t>
            </a:r>
            <a:r>
              <a:rPr lang="ko-KR" altLang="en-US" sz="1100" dirty="0"/>
              <a:t>분석 업무를 효율화하고 업무 생산성을 향상시킴</a:t>
            </a:r>
            <a:r>
              <a:rPr lang="en-US" altLang="ko-KR" sz="1100" dirty="0"/>
              <a:t>.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FA50B2-79CC-219B-7B08-26EE06B6F8CE}"/>
              </a:ext>
            </a:extLst>
          </p:cNvPr>
          <p:cNvGrpSpPr/>
          <p:nvPr/>
        </p:nvGrpSpPr>
        <p:grpSpPr>
          <a:xfrm>
            <a:off x="2089884" y="260648"/>
            <a:ext cx="8437964" cy="826041"/>
            <a:chOff x="2770604" y="404664"/>
            <a:chExt cx="8437964" cy="826041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B54BD8-17B1-9147-F1B4-BEFB5CE9F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11970" y="910649"/>
              <a:ext cx="6107894" cy="320056"/>
            </a:xfrm>
            <a:prstGeom prst="rect">
              <a:avLst/>
            </a:prstGeom>
          </p:spPr>
        </p:pic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B02D2919-9BDB-0AA8-21EE-9BD0F8D0AC0E}"/>
                </a:ext>
              </a:extLst>
            </p:cNvPr>
            <p:cNvSpPr txBox="1"/>
            <p:nvPr/>
          </p:nvSpPr>
          <p:spPr>
            <a:xfrm>
              <a:off x="2770604" y="404664"/>
              <a:ext cx="8437964" cy="745724"/>
            </a:xfrm>
            <a:prstGeom prst="rect">
              <a:avLst/>
            </a:prstGeom>
          </p:spPr>
          <p:txBody>
            <a:bodyPr lIns="0" tIns="33867" rIns="0" bIns="0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33" b="1" i="0" u="none" strike="noStrike" kern="1200" cap="none" spc="-30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+mn-ea"/>
                </a:rPr>
                <a:t>과제 정의서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490B6A-69BA-8143-733D-E86C354DC7D5}"/>
              </a:ext>
            </a:extLst>
          </p:cNvPr>
          <p:cNvSpPr txBox="1"/>
          <p:nvPr/>
        </p:nvSpPr>
        <p:spPr>
          <a:xfrm>
            <a:off x="2461121" y="2856247"/>
            <a:ext cx="1731243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As-Is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6D553-8F45-8984-AE90-0E429352C1D7}"/>
              </a:ext>
            </a:extLst>
          </p:cNvPr>
          <p:cNvSpPr txBox="1"/>
          <p:nvPr/>
        </p:nvSpPr>
        <p:spPr>
          <a:xfrm>
            <a:off x="7980892" y="2856247"/>
            <a:ext cx="1821012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To-Be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57B3AA2-99E6-344C-9636-5D43EBBFC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487880"/>
              </p:ext>
            </p:extLst>
          </p:nvPr>
        </p:nvGraphicFramePr>
        <p:xfrm>
          <a:off x="480338" y="1308997"/>
          <a:ext cx="11213823" cy="137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220620143"/>
                    </a:ext>
                  </a:extLst>
                </a:gridCol>
                <a:gridCol w="701548">
                  <a:extLst>
                    <a:ext uri="{9D8B030D-6E8A-4147-A177-3AD203B41FA5}">
                      <a16:colId xmlns:a16="http://schemas.microsoft.com/office/drawing/2014/main" val="2705089512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826095101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645500834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2618381078"/>
                    </a:ext>
                  </a:extLst>
                </a:gridCol>
                <a:gridCol w="836462">
                  <a:extLst>
                    <a:ext uri="{9D8B030D-6E8A-4147-A177-3AD203B41FA5}">
                      <a16:colId xmlns:a16="http://schemas.microsoft.com/office/drawing/2014/main" val="2365500878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3589677607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2605633086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267615173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83709985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525861917"/>
                    </a:ext>
                  </a:extLst>
                </a:gridCol>
                <a:gridCol w="613854">
                  <a:extLst>
                    <a:ext uri="{9D8B030D-6E8A-4147-A177-3AD203B41FA5}">
                      <a16:colId xmlns:a16="http://schemas.microsoft.com/office/drawing/2014/main" val="2268012820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30562283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과제명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[AI</a:t>
                      </a:r>
                      <a:r>
                        <a:rPr lang="ko-KR" altLang="en-US" sz="1100" b="1" dirty="0"/>
                        <a:t>기반</a:t>
                      </a:r>
                      <a:r>
                        <a:rPr lang="en-US" altLang="ko-KR" sz="1100" b="1" dirty="0"/>
                        <a:t>] </a:t>
                      </a:r>
                      <a:r>
                        <a:rPr lang="ko-KR" altLang="en-US" sz="1100" b="1" dirty="0"/>
                        <a:t>경쟁사 동향 모니터링 시스템 구축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경쟁사 관련 정보를 실시간으로 수집 </a:t>
                      </a:r>
                      <a:r>
                        <a:rPr lang="en-US" altLang="ko-KR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· 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분석하여 경영진의 의사결정 지원 및 주요 시장 환경 변화에 대한 데이터 기반의 신속한 대응</a:t>
                      </a:r>
                      <a:endParaRPr lang="ko-KR" altLang="en-US" sz="1100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추진일정</a:t>
                      </a:r>
                      <a:endParaRPr lang="ko-KR" altLang="en-US" dirty="0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업무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단일부서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여러부서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전략적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중요도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상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중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하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시스템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ko-KR" altLang="en-US" sz="1100" b="1" dirty="0"/>
                        <a:t>보유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ko-KR" altLang="en-US" sz="1100" b="1" dirty="0"/>
                        <a:t>여부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미보유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업무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유형</a:t>
                      </a:r>
                      <a:br>
                        <a:rPr lang="en-US" altLang="ko-KR" sz="1100" b="1"/>
                      </a:br>
                      <a:r>
                        <a:rPr lang="en-US" altLang="ko-KR" sz="900" b="1"/>
                        <a:t>(</a:t>
                      </a:r>
                      <a:r>
                        <a:rPr lang="ko-KR" altLang="en-US" sz="900" b="1"/>
                        <a:t>중복선택가능</a:t>
                      </a:r>
                      <a:r>
                        <a:rPr lang="en-US" altLang="ko-KR" sz="900" b="1"/>
                        <a:t>)</a:t>
                      </a:r>
                      <a:endParaRPr lang="ko-KR" altLang="en-US" sz="9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Assist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Agent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생산성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효과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en-US" altLang="ko-KR" sz="800" b="1"/>
                        <a:t>(</a:t>
                      </a:r>
                      <a:r>
                        <a:rPr lang="ko-KR" altLang="en-US" sz="800" b="1"/>
                        <a:t>인당</a:t>
                      </a:r>
                      <a:br>
                        <a:rPr lang="en-US" altLang="ko-KR" sz="800" b="1"/>
                      </a:br>
                      <a:r>
                        <a:rPr lang="ko-KR" altLang="en-US" sz="800" b="1"/>
                        <a:t> 생산성</a:t>
                      </a:r>
                      <a:r>
                        <a:rPr lang="en-US" altLang="ko-KR" sz="800" b="1"/>
                        <a:t>)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/>
                        <a:t>주관부서</a:t>
                      </a:r>
                      <a:endParaRPr lang="en-US" altLang="ko-KR" sz="800" b="1"/>
                    </a:p>
                    <a:p>
                      <a:pPr algn="ctr"/>
                      <a:r>
                        <a:rPr lang="en-US" altLang="ko-KR" sz="800" b="1"/>
                        <a:t> FTE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/>
                        <a:t>협업부서</a:t>
                      </a:r>
                      <a:endParaRPr lang="en-US" altLang="ko-KR" sz="800" b="1" dirty="0"/>
                    </a:p>
                    <a:p>
                      <a:pPr algn="ctr"/>
                      <a:r>
                        <a:rPr lang="en-US" altLang="ko-KR" sz="800" b="1" dirty="0"/>
                        <a:t>FTE</a:t>
                      </a:r>
                      <a:endParaRPr lang="ko-KR" altLang="en-US" sz="800" b="1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9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185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6792</TotalTime>
  <Words>433</Words>
  <Application>Microsoft Macintosh PowerPoint</Application>
  <PresentationFormat>와이드스크린</PresentationFormat>
  <Paragraphs>70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상희 김</dc:creator>
  <cp:lastModifiedBy>유구봉(Goo-Bong Yoo)_교수_DX교육섹션</cp:lastModifiedBy>
  <cp:revision>202</cp:revision>
  <dcterms:created xsi:type="dcterms:W3CDTF">2026-01-10T04:36:09Z</dcterms:created>
  <dcterms:modified xsi:type="dcterms:W3CDTF">2026-05-29T05:02:03Z</dcterms:modified>
</cp:coreProperties>
</file>