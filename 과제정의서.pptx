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14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1344" userDrawn="1">
          <p15:clr>
            <a:srgbClr val="A4A3A4"/>
          </p15:clr>
        </p15:guide>
        <p15:guide id="5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FF"/>
    <a:srgbClr val="F1CB9D"/>
    <a:srgbClr val="587EAC"/>
    <a:srgbClr val="E0E7F0"/>
    <a:srgbClr val="A6BAD3"/>
    <a:srgbClr val="CFDAE7"/>
    <a:srgbClr val="123F8A"/>
    <a:srgbClr val="BFD0E2"/>
    <a:srgbClr val="F2D7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04" autoAdjust="0"/>
    <p:restoredTop sz="95531" autoAdjust="0"/>
  </p:normalViewPr>
  <p:slideViewPr>
    <p:cSldViewPr snapToGrid="0" showGuides="1">
      <p:cViewPr varScale="1">
        <p:scale>
          <a:sx n="222" d="100"/>
          <a:sy n="222" d="100"/>
        </p:scale>
        <p:origin x="1000" y="192"/>
      </p:cViewPr>
      <p:guideLst>
        <p:guide orient="horz" pos="134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212"/>
    </p:cViewPr>
  </p:sorterViewPr>
  <p:notesViewPr>
    <p:cSldViewPr snapToGrid="0" showGuides="1">
      <p:cViewPr varScale="1">
        <p:scale>
          <a:sx n="81" d="100"/>
          <a:sy n="81" d="100"/>
        </p:scale>
        <p:origin x="304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26DCF-1716-484D-9C58-882373CAEEA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30DA2B-892C-4FCF-91BB-9CADED816C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363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EE1E8-2192-DDAB-4005-E2FCC9C19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1638F6-040A-61D7-58E6-2D47D4A35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C5A57E-B8C7-C607-3735-927708ED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7BD000-F6C5-7D1E-E5D3-88DC9EE72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948A19-E83C-4C22-9205-EB160126E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280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7B05C87-D165-51D6-36F8-16BC31906585}"/>
              </a:ext>
            </a:extLst>
          </p:cNvPr>
          <p:cNvGrpSpPr/>
          <p:nvPr userDrawn="1"/>
        </p:nvGrpSpPr>
        <p:grpSpPr>
          <a:xfrm>
            <a:off x="-4121892" y="-16957"/>
            <a:ext cx="3862284" cy="4018251"/>
            <a:chOff x="-5226792" y="-3449235"/>
            <a:chExt cx="3862284" cy="4018251"/>
          </a:xfrm>
        </p:grpSpPr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1349A59A-3BC3-20C0-B4A2-78B90D53FCC8}"/>
                </a:ext>
              </a:extLst>
            </p:cNvPr>
            <p:cNvSpPr/>
            <p:nvPr/>
          </p:nvSpPr>
          <p:spPr>
            <a:xfrm>
              <a:off x="-5226792" y="-192524"/>
              <a:ext cx="1873992" cy="761540"/>
            </a:xfrm>
            <a:prstGeom prst="rect">
              <a:avLst/>
            </a:prstGeom>
            <a:solidFill>
              <a:srgbClr val="C2D1E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#C2D1E3</a:t>
              </a:r>
              <a:endParaRPr lang="ko-KR" altLang="en-US" dirty="0"/>
            </a:p>
          </p:txBody>
        </p:sp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EA758A18-1193-A117-A64B-C530B493532C}"/>
                </a:ext>
              </a:extLst>
            </p:cNvPr>
            <p:cNvSpPr/>
            <p:nvPr/>
          </p:nvSpPr>
          <p:spPr>
            <a:xfrm>
              <a:off x="-5226790" y="-963426"/>
              <a:ext cx="1873992" cy="703838"/>
            </a:xfrm>
            <a:prstGeom prst="roundRect">
              <a:avLst>
                <a:gd name="adj" fmla="val 0"/>
              </a:avLst>
            </a:prstGeom>
            <a:solidFill>
              <a:srgbClr val="7F9F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#7F9FC8</a:t>
              </a:r>
              <a:endParaRPr lang="ko-KR" altLang="en-US" dirty="0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C15653DF-7EF2-F5C8-2819-964CA6196EAB}"/>
                </a:ext>
              </a:extLst>
            </p:cNvPr>
            <p:cNvSpPr/>
            <p:nvPr/>
          </p:nvSpPr>
          <p:spPr>
            <a:xfrm>
              <a:off x="-5226791" y="-3449235"/>
              <a:ext cx="1873992" cy="761540"/>
            </a:xfrm>
            <a:prstGeom prst="rect">
              <a:avLst/>
            </a:prstGeom>
            <a:solidFill>
              <a:srgbClr val="0138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#013882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18074296-84AC-2E51-C2EB-56C57E760855}"/>
                </a:ext>
              </a:extLst>
            </p:cNvPr>
            <p:cNvSpPr/>
            <p:nvPr/>
          </p:nvSpPr>
          <p:spPr>
            <a:xfrm>
              <a:off x="-5226792" y="-2620632"/>
              <a:ext cx="1873992" cy="761540"/>
            </a:xfrm>
            <a:prstGeom prst="rect">
              <a:avLst/>
            </a:prstGeom>
            <a:solidFill>
              <a:srgbClr val="123F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#1F4F93</a:t>
              </a:r>
              <a:endParaRPr lang="ko-KR" altLang="en-US" dirty="0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AB723417-BCD4-D67A-ABF3-1C781C080C75}"/>
                </a:ext>
              </a:extLst>
            </p:cNvPr>
            <p:cNvSpPr/>
            <p:nvPr/>
          </p:nvSpPr>
          <p:spPr>
            <a:xfrm>
              <a:off x="-5226792" y="-1792029"/>
              <a:ext cx="1873992" cy="761540"/>
            </a:xfrm>
            <a:prstGeom prst="rect">
              <a:avLst/>
            </a:prstGeom>
            <a:solidFill>
              <a:srgbClr val="245A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#245A99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DB36C09E-B34E-B0F6-2196-3005FE4A2FD3}"/>
                </a:ext>
              </a:extLst>
            </p:cNvPr>
            <p:cNvSpPr/>
            <p:nvPr userDrawn="1"/>
          </p:nvSpPr>
          <p:spPr>
            <a:xfrm>
              <a:off x="-3238500" y="-3449235"/>
              <a:ext cx="1873992" cy="761540"/>
            </a:xfrm>
            <a:prstGeom prst="rect">
              <a:avLst/>
            </a:prstGeom>
            <a:solidFill>
              <a:srgbClr val="E49B3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#E49B3F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7084090B-7373-4726-9A49-C85E33AE58B3}"/>
                </a:ext>
              </a:extLst>
            </p:cNvPr>
            <p:cNvSpPr/>
            <p:nvPr/>
          </p:nvSpPr>
          <p:spPr>
            <a:xfrm>
              <a:off x="-3238500" y="-2620632"/>
              <a:ext cx="1873992" cy="761540"/>
            </a:xfrm>
            <a:prstGeom prst="rect">
              <a:avLst/>
            </a:prstGeom>
            <a:solidFill>
              <a:srgbClr val="F2C9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#F2C94C</a:t>
              </a:r>
              <a:endParaRPr lang="ko-KR" altLang="en-US" dirty="0">
                <a:solidFill>
                  <a:srgbClr val="013882"/>
                </a:solidFill>
              </a:endParaRPr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FC04D8D9-06A5-7570-B8B5-716D161433C4}"/>
              </a:ext>
            </a:extLst>
          </p:cNvPr>
          <p:cNvSpPr/>
          <p:nvPr userDrawn="1"/>
        </p:nvSpPr>
        <p:spPr>
          <a:xfrm>
            <a:off x="12451608" y="682818"/>
            <a:ext cx="2070992" cy="576000"/>
          </a:xfrm>
          <a:prstGeom prst="rect">
            <a:avLst/>
          </a:prstGeom>
          <a:solidFill>
            <a:srgbClr val="0F4A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#0F4A8A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05462A-4409-D97E-8280-58C4BB476056}"/>
              </a:ext>
            </a:extLst>
          </p:cNvPr>
          <p:cNvSpPr/>
          <p:nvPr userDrawn="1"/>
        </p:nvSpPr>
        <p:spPr>
          <a:xfrm>
            <a:off x="12451608" y="1409655"/>
            <a:ext cx="2070992" cy="576000"/>
          </a:xfrm>
          <a:prstGeom prst="rect">
            <a:avLst/>
          </a:prstGeom>
          <a:solidFill>
            <a:srgbClr val="164D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#1B5A96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87447DD-D2DC-7743-1749-1807BC43D862}"/>
              </a:ext>
            </a:extLst>
          </p:cNvPr>
          <p:cNvSpPr/>
          <p:nvPr userDrawn="1"/>
        </p:nvSpPr>
        <p:spPr>
          <a:xfrm>
            <a:off x="12451608" y="-44019"/>
            <a:ext cx="2070992" cy="576000"/>
          </a:xfrm>
          <a:prstGeom prst="rect">
            <a:avLst/>
          </a:prstGeom>
          <a:solidFill>
            <a:srgbClr val="0138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#013882</a:t>
            </a:r>
            <a:endParaRPr lang="ko-KR" altLang="en-US" dirty="0">
              <a:solidFill>
                <a:srgbClr val="013882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56C11F-A27E-1D83-3442-EDE136DDA966}"/>
              </a:ext>
            </a:extLst>
          </p:cNvPr>
          <p:cNvSpPr/>
          <p:nvPr userDrawn="1"/>
        </p:nvSpPr>
        <p:spPr>
          <a:xfrm>
            <a:off x="12451608" y="2136493"/>
            <a:ext cx="2070992" cy="576000"/>
          </a:xfrm>
          <a:prstGeom prst="rect">
            <a:avLst/>
          </a:prstGeom>
          <a:solidFill>
            <a:srgbClr val="245A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#245A99</a:t>
            </a:r>
            <a:endParaRPr lang="ko-KR" altLang="en-US" dirty="0">
              <a:solidFill>
                <a:srgbClr val="01388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8796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45700-C1A0-EC56-E05C-AFB779647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55595D-5F5E-DFFC-C6F9-D4AEBC8CF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36CAA-D6E5-D07D-2B36-AE9E17899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048944-27DD-874D-02AC-F6FDAE68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504B92-48BC-C07D-BB00-4DF623393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509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0EE5BE-724C-3A2D-930F-C06238D05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3F9792-5DBE-EA44-7E29-C1D8B7849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8DC3ED-FB8D-98CC-175B-83561CB2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28E21E-A1F5-FF04-A8BF-D57F935DB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6AAEB1-60AD-0995-C13E-B1CFF79C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61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8574C7-6316-DFA7-EAB4-536406501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44CE9-2BC9-A967-3985-F2532E4998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D59B8C9-4347-37FB-6125-A32EF64F8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55258-A06D-3AB0-2609-53D09F2D0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5A3BE9-A4F4-8592-DB05-7AAF76E78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6AE219-3BAA-2FBD-9503-66C7211AA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703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24E0D-7E5D-53EC-89D3-35D5D1AA2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7B3BC6-377C-A099-507C-BE39BA659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FCA5D-1F65-1B6A-5BF9-E9920399FA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54032AA-4DC1-4DBC-9F9A-66C105DC41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BD8FDA-8FE9-96FC-877E-18045E4B74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986FAB2-44CD-D0D7-8C4C-0B8F00CEB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C7C64D0-E188-1856-0E84-36B23F1FC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817763-E4CE-7599-A869-9BDA7810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15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7DBB8-5C2B-EF49-DCFA-12704DA7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4158B1-56E3-1C05-8F33-73E7C39D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DE1582-BA75-6AD0-6EA9-A6E2E7EE8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E91663-5D18-7287-CB4E-782D3E13B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95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4EB0960-C962-8822-6F4D-1EC794B0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9B2791C-A526-77FA-D2DD-D0F2378A8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2B313-996E-1F12-5A61-0B3530FB4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992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C47A32-DF1F-A694-F1FB-9EE33D690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BEF96B-6F1B-2F31-08EC-6374DE94F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270107-7E89-EF3F-7810-E96DE9620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916488-28A4-C1E3-2EE0-6EA74B29D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E60868-A59B-050A-5944-805513F5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94AFD-DE3A-E415-DE81-8D397C879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771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0A1152-F19D-5C72-2872-11C31AA4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2323DA-49D4-8635-0B25-172335E5D2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91ED35F-E555-C03C-8A96-7880D0482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167135-C08B-11AB-1326-63F243C2B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08A3D01-6121-C551-B944-69B6BF7C2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88D3B3-40E8-73CA-B50A-A7278D65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480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BBF5BA-8888-4D7B-ED2F-3BBAD220B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0293A3-C166-D782-FE05-33C7C4E1D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9067F4-D243-6200-7C45-41AE3510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C1059D-B163-8AB8-71B8-609CF1817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60EA92-0BBE-050E-85A0-005C3230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32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531225F-CD7F-F9FE-134A-511A3ACE44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20FDE50-E606-D711-6DA9-537D80677A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FB5F04-BD1E-084C-8D0F-B9E43B154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B5197-F66B-1AC9-F65E-AB8227EB6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4621F8-5981-9F8B-0C68-C1D8F813B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6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2F40205-ABCC-24E6-5B30-AF722B6AC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F19298-AF24-F546-78DC-38C85A25E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495C4-D990-47E5-87EB-7F0830E8B335}" type="datetimeFigureOut">
              <a:rPr lang="ko-KR" altLang="en-US" smtClean="0"/>
              <a:t>2026. 4. 27.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DD5B5C-FB58-FC78-08D4-611B043FD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45283A-82ED-BC8E-22D3-FA198A1A8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218EBF-BC35-4927-88D5-71E798A45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157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C5698-F78E-FA5C-F38F-DE8548280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22A2B16-08E8-C6F8-60A9-647B03E88E7E}"/>
              </a:ext>
            </a:extLst>
          </p:cNvPr>
          <p:cNvSpPr/>
          <p:nvPr/>
        </p:nvSpPr>
        <p:spPr>
          <a:xfrm>
            <a:off x="480339" y="2991059"/>
            <a:ext cx="5506696" cy="3587439"/>
          </a:xfrm>
          <a:prstGeom prst="rect">
            <a:avLst/>
          </a:prstGeom>
          <a:solidFill>
            <a:sysClr val="window" lastClr="FFFFFF"/>
          </a:solidFill>
          <a:ln w="3175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txBody>
          <a:bodyPr rtlCol="0" anchor="t" anchorCtr="0"/>
          <a:lstStyle/>
          <a:p>
            <a:pPr>
              <a:lnSpc>
                <a:spcPct val="150000"/>
              </a:lnSpc>
            </a:pPr>
            <a:r>
              <a:rPr lang="en-US" altLang="ko-KR" sz="1100" b="1" dirty="0"/>
              <a:t>① </a:t>
            </a:r>
            <a:r>
              <a:rPr lang="ko-KR" altLang="en-US" sz="1100" b="1" dirty="0"/>
              <a:t>업무 프로세스 흐름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:</a:t>
            </a:r>
            <a:r>
              <a:rPr lang="ko-KR" altLang="en-US" sz="1100" dirty="0"/>
              <a:t> 수작업 검색 등을 통해 데이터 수집 </a:t>
            </a:r>
            <a:r>
              <a:rPr lang="en-US" altLang="ko-KR" sz="1100" dirty="0">
                <a:sym typeface="Wingdings" pitchFamily="2" charset="2"/>
              </a:rPr>
              <a:t></a:t>
            </a:r>
            <a:r>
              <a:rPr lang="ko-KR" altLang="en-US" sz="1100" dirty="0"/>
              <a:t> 엑셀로 정리 </a:t>
            </a:r>
            <a:r>
              <a:rPr lang="en-US" altLang="ko-KR" sz="1100" dirty="0">
                <a:sym typeface="Wingdings" pitchFamily="2" charset="2"/>
              </a:rPr>
              <a:t></a:t>
            </a:r>
            <a:r>
              <a:rPr lang="ko-KR" altLang="en-US" sz="1100" dirty="0">
                <a:sym typeface="Wingdings" pitchFamily="2" charset="2"/>
              </a:rPr>
              <a:t> 메일 발송</a:t>
            </a:r>
            <a:endParaRPr lang="ko-KR" altLang="en-US" sz="1100" dirty="0"/>
          </a:p>
          <a:p>
            <a:pPr>
              <a:lnSpc>
                <a:spcPct val="150000"/>
              </a:lnSpc>
            </a:pPr>
            <a:endParaRPr lang="ko-KR" altLang="en-US" sz="1100" dirty="0"/>
          </a:p>
          <a:p>
            <a:pPr>
              <a:lnSpc>
                <a:spcPct val="150000"/>
              </a:lnSpc>
            </a:pPr>
            <a:r>
              <a:rPr lang="en-US" altLang="ko-KR" sz="1100" b="1" dirty="0"/>
              <a:t>② Pain Point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100" dirty="0"/>
              <a:t>[</a:t>
            </a:r>
            <a:r>
              <a:rPr lang="ko-KR" altLang="en-US" sz="1100" dirty="0"/>
              <a:t>환경</a:t>
            </a:r>
            <a:r>
              <a:rPr lang="en-US" altLang="ko-KR" sz="1100" dirty="0"/>
              <a:t>] </a:t>
            </a:r>
            <a:r>
              <a:rPr lang="ko-KR" altLang="en-US" sz="1100" dirty="0"/>
              <a:t>경쟁사들은 원자재 가격 변동</a:t>
            </a:r>
            <a:r>
              <a:rPr lang="en-US" altLang="ko-KR" sz="1100" dirty="0"/>
              <a:t>, </a:t>
            </a:r>
            <a:r>
              <a:rPr lang="ko-KR" altLang="en-US" sz="1100" dirty="0"/>
              <a:t>환경</a:t>
            </a:r>
            <a:r>
              <a:rPr lang="en-US" altLang="ko-KR" sz="1100" dirty="0"/>
              <a:t>/</a:t>
            </a:r>
            <a:r>
              <a:rPr lang="ko-KR" altLang="en-US" sz="1100" dirty="0"/>
              <a:t>관세 정책 변화 등 급격한 시장 환경 변화에 따라 해외 진출</a:t>
            </a:r>
            <a:r>
              <a:rPr lang="en-US" altLang="ko-KR" sz="1100" dirty="0"/>
              <a:t>, </a:t>
            </a:r>
            <a:r>
              <a:rPr lang="ko-KR" altLang="en-US" sz="1100" dirty="0"/>
              <a:t>설비 투자 등 빠른 전략 수립 </a:t>
            </a:r>
            <a:r>
              <a:rPr lang="en-US" altLang="ko-KR" sz="1100" dirty="0"/>
              <a:t>· </a:t>
            </a:r>
            <a:r>
              <a:rPr lang="ko-KR" altLang="en-US" sz="1100" dirty="0"/>
              <a:t>실행으로 경쟁력을 확보하고 있음</a:t>
            </a:r>
            <a:r>
              <a:rPr lang="en-US" altLang="ko-KR" sz="1100" dirty="0"/>
              <a:t>. </a:t>
            </a:r>
            <a:r>
              <a:rPr lang="ko-KR" altLang="en-US" sz="1100" dirty="0"/>
              <a:t>이와 같은 </a:t>
            </a:r>
            <a:r>
              <a:rPr lang="ko-KR" altLang="en-US" sz="1100" dirty="0" err="1"/>
              <a:t>상황하에서</a:t>
            </a:r>
            <a:r>
              <a:rPr lang="ko-KR" altLang="en-US" sz="1100" dirty="0"/>
              <a:t> 신속한 정보 확보는 기업 경쟁력의 핵심 요소로 부상</a:t>
            </a:r>
            <a:r>
              <a:rPr lang="en-US" altLang="ko-KR" sz="1100" dirty="0"/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100" dirty="0"/>
              <a:t>[</a:t>
            </a:r>
            <a:r>
              <a:rPr lang="ko-KR" altLang="en-US" sz="1100" dirty="0"/>
              <a:t>한계</a:t>
            </a:r>
            <a:r>
              <a:rPr lang="en-US" altLang="ko-KR" sz="1100" dirty="0"/>
              <a:t>] </a:t>
            </a:r>
            <a:r>
              <a:rPr lang="ko-KR" altLang="en-US" sz="1100" dirty="0"/>
              <a:t>현재 정책 변화 </a:t>
            </a:r>
            <a:r>
              <a:rPr lang="en-US" altLang="ko-KR" sz="1100" dirty="0"/>
              <a:t>· </a:t>
            </a:r>
            <a:r>
              <a:rPr lang="ko-KR" altLang="en-US" sz="1100" dirty="0"/>
              <a:t>경쟁사 동향 파악은 수작업 기사 검색에 의존하고 있으며</a:t>
            </a:r>
            <a:r>
              <a:rPr lang="en-US" altLang="ko-KR" sz="1100" dirty="0"/>
              <a:t>, </a:t>
            </a:r>
            <a:r>
              <a:rPr lang="ko-KR" altLang="en-US" sz="1100" dirty="0"/>
              <a:t>정보 수집에 많은 시간이 소요됨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25C036-788E-B228-8059-69F0A265F750}"/>
              </a:ext>
            </a:extLst>
          </p:cNvPr>
          <p:cNvSpPr/>
          <p:nvPr/>
        </p:nvSpPr>
        <p:spPr>
          <a:xfrm>
            <a:off x="6204968" y="2991059"/>
            <a:ext cx="5489194" cy="3587439"/>
          </a:xfrm>
          <a:prstGeom prst="rect">
            <a:avLst/>
          </a:prstGeom>
          <a:solidFill>
            <a:sysClr val="window" lastClr="FFFFFF"/>
          </a:solidFill>
          <a:ln w="3175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>
              <a:defRPr/>
            </a:pPr>
            <a:r>
              <a:rPr lang="en-US" altLang="ko-KR" sz="1100" b="1" dirty="0"/>
              <a:t>① Agent </a:t>
            </a:r>
            <a:r>
              <a:rPr lang="ko-KR" altLang="en-US" sz="1100" b="1" dirty="0"/>
              <a:t>기반 업무 프로세스</a:t>
            </a:r>
            <a:endParaRPr lang="en-US" altLang="ko-KR" sz="1100" b="1" dirty="0"/>
          </a:p>
          <a:p>
            <a:pPr>
              <a:defRPr/>
            </a:pPr>
            <a:r>
              <a:rPr lang="en-US" altLang="ko-KR" sz="1100" dirty="0"/>
              <a:t>:</a:t>
            </a:r>
            <a:r>
              <a:rPr lang="ko-KR" altLang="en-US" sz="1100" dirty="0"/>
              <a:t> </a:t>
            </a:r>
            <a:r>
              <a:rPr lang="en-US" altLang="ko-KR" sz="1100" dirty="0"/>
              <a:t>API </a:t>
            </a:r>
            <a:r>
              <a:rPr lang="ko-KR" altLang="en-US" sz="1100" dirty="0"/>
              <a:t>및 </a:t>
            </a:r>
            <a:r>
              <a:rPr lang="ko-KR" altLang="en-US" sz="1100" dirty="0" err="1"/>
              <a:t>웹크롤으로</a:t>
            </a:r>
            <a:r>
              <a:rPr lang="ko-KR" altLang="en-US" sz="1100" dirty="0"/>
              <a:t> 데이터 수집 </a:t>
            </a:r>
            <a:r>
              <a:rPr lang="en-US" altLang="ko-KR" sz="1100" dirty="0">
                <a:sym typeface="Wingdings" pitchFamily="2" charset="2"/>
              </a:rPr>
              <a:t></a:t>
            </a:r>
            <a:r>
              <a:rPr lang="ko-KR" altLang="en-US" sz="1100" dirty="0">
                <a:sym typeface="Wingdings" pitchFamily="2" charset="2"/>
              </a:rPr>
              <a:t> </a:t>
            </a:r>
            <a:r>
              <a:rPr lang="ko-KR" altLang="en-US" sz="1100" dirty="0" err="1">
                <a:sym typeface="Wingdings" pitchFamily="2" charset="2"/>
              </a:rPr>
              <a:t>데시보드에</a:t>
            </a:r>
            <a:r>
              <a:rPr lang="ko-KR" altLang="en-US" sz="1100" dirty="0">
                <a:sym typeface="Wingdings" pitchFamily="2" charset="2"/>
              </a:rPr>
              <a:t> 데이터 디스플레이 </a:t>
            </a:r>
            <a:r>
              <a:rPr lang="en-US" altLang="ko-KR" sz="1100" dirty="0">
                <a:sym typeface="Wingdings" pitchFamily="2" charset="2"/>
              </a:rPr>
              <a:t></a:t>
            </a:r>
            <a:r>
              <a:rPr lang="ko-KR" altLang="en-US" sz="1100" dirty="0">
                <a:sym typeface="Wingdings" pitchFamily="2" charset="2"/>
              </a:rPr>
              <a:t> </a:t>
            </a:r>
            <a:r>
              <a:rPr lang="en-US" altLang="ko-KR" sz="1100" dirty="0">
                <a:sym typeface="Wingdings" pitchFamily="2" charset="2"/>
              </a:rPr>
              <a:t>LLM </a:t>
            </a:r>
            <a:r>
              <a:rPr lang="ko-KR" altLang="en-US" sz="1100" dirty="0">
                <a:sym typeface="Wingdings" pitchFamily="2" charset="2"/>
              </a:rPr>
              <a:t>분석</a:t>
            </a:r>
            <a:r>
              <a:rPr lang="en-US" altLang="ko-KR" sz="1100" dirty="0">
                <a:sym typeface="Wingdings" pitchFamily="2" charset="2"/>
              </a:rPr>
              <a:t>  </a:t>
            </a:r>
            <a:r>
              <a:rPr lang="ko-KR" altLang="en-US" sz="1100" dirty="0" err="1"/>
              <a:t>웹앱</a:t>
            </a:r>
            <a:r>
              <a:rPr lang="ko-KR" altLang="en-US" sz="1100" dirty="0"/>
              <a:t> </a:t>
            </a:r>
            <a:r>
              <a:rPr lang="en-US" altLang="ko-KR" sz="1100" dirty="0"/>
              <a:t>Agent</a:t>
            </a:r>
            <a:r>
              <a:rPr lang="ko-KR" altLang="en-US" sz="1100" dirty="0"/>
              <a:t>로</a:t>
            </a:r>
            <a:r>
              <a:rPr lang="en-US" altLang="ko-KR" sz="1100" dirty="0"/>
              <a:t> </a:t>
            </a:r>
            <a:r>
              <a:rPr lang="ko-KR" altLang="en-US" sz="1100" dirty="0"/>
              <a:t>디스플레이</a:t>
            </a:r>
            <a:r>
              <a:rPr lang="en-US" altLang="ko-KR" sz="1100" dirty="0"/>
              <a:t>(PC/</a:t>
            </a:r>
            <a:r>
              <a:rPr lang="ko-KR" altLang="en-US" sz="1100" dirty="0"/>
              <a:t>모바일 앱 제공</a:t>
            </a:r>
            <a:r>
              <a:rPr lang="en-US" altLang="ko-KR" sz="1100" dirty="0"/>
              <a:t>)</a:t>
            </a:r>
            <a:endParaRPr lang="ko-KR" altLang="en-US" sz="1100" dirty="0"/>
          </a:p>
          <a:p>
            <a:pPr>
              <a:defRPr/>
            </a:pPr>
            <a:endParaRPr lang="ko-KR" altLang="en-US" sz="1100" dirty="0"/>
          </a:p>
          <a:p>
            <a:pPr>
              <a:defRPr/>
            </a:pPr>
            <a:r>
              <a:rPr lang="en-US" altLang="ko-KR" sz="1100" b="1" dirty="0"/>
              <a:t>② </a:t>
            </a:r>
            <a:r>
              <a:rPr lang="ko-KR" altLang="en-US" sz="1100" b="1" dirty="0"/>
              <a:t>개선내용</a:t>
            </a:r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반복 </a:t>
            </a:r>
            <a:r>
              <a:rPr lang="en-US" altLang="ko-KR" sz="1100" dirty="0"/>
              <a:t>· </a:t>
            </a:r>
            <a:r>
              <a:rPr lang="ko-KR" altLang="en-US" sz="1100" dirty="0"/>
              <a:t>수동적인 정보 검색 업무를 자동화하여 업무 효율성 확보</a:t>
            </a:r>
            <a:endParaRPr lang="en-US" altLang="ko-KR" sz="1100" dirty="0"/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경쟁사 관련 뉴스 </a:t>
            </a:r>
            <a:r>
              <a:rPr lang="en-US" altLang="ko-KR" sz="1100" dirty="0"/>
              <a:t>· </a:t>
            </a:r>
            <a:r>
              <a:rPr lang="ko-KR" altLang="en-US" sz="1100" dirty="0"/>
              <a:t>보도자료 </a:t>
            </a:r>
            <a:r>
              <a:rPr lang="en-US" altLang="ko-KR" sz="1100" dirty="0"/>
              <a:t>· </a:t>
            </a:r>
            <a:r>
              <a:rPr lang="ko-KR" altLang="en-US" sz="1100" dirty="0"/>
              <a:t>공시정보를 실시간으로 수집 </a:t>
            </a:r>
            <a:r>
              <a:rPr lang="en-US" altLang="ko-KR" sz="1100" dirty="0"/>
              <a:t>· </a:t>
            </a:r>
            <a:r>
              <a:rPr lang="ko-KR" altLang="en-US" sz="1100" dirty="0"/>
              <a:t>분석하여 경영진 </a:t>
            </a:r>
            <a:r>
              <a:rPr lang="en-US" altLang="ko-KR" sz="1100" dirty="0"/>
              <a:t>Reporting </a:t>
            </a:r>
            <a:r>
              <a:rPr lang="ko-KR" altLang="en-US" sz="1100" dirty="0"/>
              <a:t>등 의사결정 지원</a:t>
            </a:r>
            <a:endParaRPr lang="en-US" altLang="ko-KR" sz="1100" dirty="0"/>
          </a:p>
          <a:p>
            <a:pPr marL="171450" indent="-171450">
              <a:buFontTx/>
              <a:buChar char="-"/>
              <a:defRPr/>
            </a:pPr>
            <a:r>
              <a:rPr lang="ko-KR" altLang="en-US" sz="1100" dirty="0"/>
              <a:t>관세 정책 등 주요 시장 환경 변화에 대한 데이터 기반의 신속한 대응 가능</a:t>
            </a:r>
            <a:endParaRPr lang="en-US" altLang="ko-KR" sz="1100" dirty="0"/>
          </a:p>
          <a:p>
            <a:pPr>
              <a:defRPr/>
            </a:pPr>
            <a:r>
              <a:rPr lang="ko-KR" altLang="en-US" sz="1100" dirty="0"/>
              <a:t>   *  뉴스 포털</a:t>
            </a:r>
            <a:r>
              <a:rPr lang="en-US" altLang="ko-KR" sz="1100" dirty="0"/>
              <a:t>, DART </a:t>
            </a:r>
            <a:r>
              <a:rPr lang="ko-KR" altLang="en-US" sz="1100" dirty="0"/>
              <a:t>등의 채널을 활용한 주요 </a:t>
            </a:r>
            <a:r>
              <a:rPr lang="ko-KR" altLang="en-US" sz="1100" dirty="0" err="1"/>
              <a:t>컬러사</a:t>
            </a:r>
            <a:r>
              <a:rPr lang="en-US" altLang="ko-KR" sz="1100" dirty="0"/>
              <a:t>, </a:t>
            </a:r>
            <a:r>
              <a:rPr lang="ko-KR" altLang="en-US" sz="1100" dirty="0"/>
              <a:t>원자재 가격 추이</a:t>
            </a:r>
            <a:r>
              <a:rPr lang="en-US" altLang="ko-KR" sz="1100" dirty="0"/>
              <a:t>, </a:t>
            </a:r>
            <a:r>
              <a:rPr lang="ko-KR" altLang="en-US" sz="1100" dirty="0"/>
              <a:t>환율</a:t>
            </a:r>
            <a:r>
              <a:rPr lang="en-US" altLang="ko-KR" sz="1100" dirty="0"/>
              <a:t>, </a:t>
            </a:r>
            <a:r>
              <a:rPr lang="ko-KR" altLang="en-US" sz="1100" dirty="0"/>
              <a:t>산업 동향 등</a:t>
            </a:r>
            <a:r>
              <a:rPr lang="en-US" altLang="ko-KR" sz="1100" dirty="0"/>
              <a:t> </a:t>
            </a:r>
            <a:r>
              <a:rPr lang="ko-KR" altLang="en-US" sz="1100" dirty="0"/>
              <a:t>자동 모니터링</a:t>
            </a:r>
          </a:p>
          <a:p>
            <a:pPr>
              <a:defRPr/>
            </a:pPr>
            <a:endParaRPr lang="en-US" altLang="ko-KR" sz="1100" b="1" dirty="0"/>
          </a:p>
          <a:p>
            <a:pPr>
              <a:defRPr/>
            </a:pPr>
            <a:r>
              <a:rPr lang="en-US" altLang="ko-KR" sz="1100" b="1" dirty="0"/>
              <a:t>③ </a:t>
            </a:r>
            <a:r>
              <a:rPr lang="ko-KR" altLang="en-US" sz="1100" b="1" dirty="0"/>
              <a:t>기대효과</a:t>
            </a:r>
            <a:endParaRPr lang="en-US" altLang="ko-KR" sz="1100" dirty="0"/>
          </a:p>
          <a:p>
            <a:pPr>
              <a:defRPr/>
            </a:pPr>
            <a:r>
              <a:rPr lang="ko-KR" altLang="en-US" sz="1100" dirty="0"/>
              <a:t>경쟁사 동향 파악 등 정보 수집에 낭비되는 시간 개선 가능 </a:t>
            </a:r>
            <a:r>
              <a:rPr lang="en-US" altLang="ko-KR" sz="1100" dirty="0"/>
              <a:t>(</a:t>
            </a:r>
            <a:r>
              <a:rPr lang="ko-KR" altLang="en-US" sz="1100" dirty="0" err="1"/>
              <a:t>年</a:t>
            </a:r>
            <a:r>
              <a:rPr lang="ko-KR" altLang="en-US" sz="1100" dirty="0"/>
              <a:t> </a:t>
            </a:r>
            <a:r>
              <a:rPr lang="en-US" altLang="ko-KR" sz="1100" dirty="0"/>
              <a:t>50</a:t>
            </a:r>
            <a:r>
              <a:rPr lang="ko-KR" altLang="en-US" sz="1100" dirty="0"/>
              <a:t>시간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  <a:defRPr/>
            </a:pPr>
            <a:endParaRPr lang="ko-KR" altLang="en-US" sz="11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DFA50B2-79CC-219B-7B08-26EE06B6F8CE}"/>
              </a:ext>
            </a:extLst>
          </p:cNvPr>
          <p:cNvGrpSpPr/>
          <p:nvPr/>
        </p:nvGrpSpPr>
        <p:grpSpPr>
          <a:xfrm>
            <a:off x="2089884" y="260648"/>
            <a:ext cx="8437964" cy="826041"/>
            <a:chOff x="2770604" y="404664"/>
            <a:chExt cx="8437964" cy="826041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CBB54BD8-17B1-9147-F1B4-BEFB5CE9F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81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911970" y="910649"/>
              <a:ext cx="6107894" cy="320056"/>
            </a:xfrm>
            <a:prstGeom prst="rect">
              <a:avLst/>
            </a:prstGeom>
          </p:spPr>
        </p:pic>
        <p:sp>
          <p:nvSpPr>
            <p:cNvPr id="22" name="TextBox 12">
              <a:extLst>
                <a:ext uri="{FF2B5EF4-FFF2-40B4-BE49-F238E27FC236}">
                  <a16:creationId xmlns:a16="http://schemas.microsoft.com/office/drawing/2014/main" id="{B02D2919-9BDB-0AA8-21EE-9BD0F8D0AC0E}"/>
                </a:ext>
              </a:extLst>
            </p:cNvPr>
            <p:cNvSpPr txBox="1"/>
            <p:nvPr/>
          </p:nvSpPr>
          <p:spPr>
            <a:xfrm>
              <a:off x="2770604" y="404664"/>
              <a:ext cx="8437964" cy="745724"/>
            </a:xfrm>
            <a:prstGeom prst="rect">
              <a:avLst/>
            </a:prstGeom>
          </p:spPr>
          <p:txBody>
            <a:bodyPr lIns="0" tIns="33867" rIns="0" bIns="0" rtlCol="0" anchor="ctr"/>
            <a:lstStyle/>
            <a:p>
              <a:pPr marL="0" marR="0" lvl="0" indent="0" algn="ctr" defTabSz="457189" rtl="0" eaLnBrk="1" fontAlgn="auto" latinLnBrk="0" hangingPunct="1">
                <a:lnSpc>
                  <a:spcPct val="99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33" b="1" i="0" u="none" strike="noStrike" kern="1200" cap="none" spc="-300" normalizeH="0" baseline="0" noProof="0" dirty="0">
                  <a:ln>
                    <a:noFill/>
                  </a:ln>
                  <a:gradFill>
                    <a:gsLst>
                      <a:gs pos="0">
                        <a:schemeClr val="tx1">
                          <a:lumMod val="85000"/>
                          <a:lumOff val="15000"/>
                        </a:schemeClr>
                      </a:gs>
                      <a:gs pos="100000">
                        <a:schemeClr val="tx1">
                          <a:lumMod val="95000"/>
                          <a:lumOff val="5000"/>
                        </a:scheme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+mn-ea"/>
                </a:rPr>
                <a:t>과제 정의서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C490B6A-69BA-8143-733D-E86C354DC7D5}"/>
              </a:ext>
            </a:extLst>
          </p:cNvPr>
          <p:cNvSpPr txBox="1"/>
          <p:nvPr/>
        </p:nvSpPr>
        <p:spPr>
          <a:xfrm>
            <a:off x="2461121" y="2856247"/>
            <a:ext cx="1731243" cy="245580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algn="ctr" defTabSz="456057" latinLnBrk="0">
              <a:defRPr/>
            </a:pP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【 As-Is </a:t>
            </a:r>
            <a:r>
              <a:rPr lang="ko-KR" altLang="en-US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업무모습 </a:t>
            </a: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】</a:t>
            </a:r>
            <a:endParaRPr lang="ko-KR" altLang="en-US" sz="1596" b="1" kern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06D553-8F45-8984-AE90-0E429352C1D7}"/>
              </a:ext>
            </a:extLst>
          </p:cNvPr>
          <p:cNvSpPr txBox="1"/>
          <p:nvPr/>
        </p:nvSpPr>
        <p:spPr>
          <a:xfrm>
            <a:off x="7980892" y="2856247"/>
            <a:ext cx="1821012" cy="245580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algn="ctr" defTabSz="456057" latinLnBrk="0">
              <a:defRPr/>
            </a:pP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【 To-Be </a:t>
            </a:r>
            <a:r>
              <a:rPr lang="ko-KR" altLang="en-US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업무모습 </a:t>
            </a:r>
            <a:r>
              <a:rPr lang="en-US" altLang="ko-KR" sz="1596" b="1" kern="0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】</a:t>
            </a:r>
            <a:endParaRPr lang="ko-KR" altLang="en-US" sz="1596" b="1" kern="0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57B3AA2-99E6-344C-9636-5D43EBBFCC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487880"/>
              </p:ext>
            </p:extLst>
          </p:nvPr>
        </p:nvGraphicFramePr>
        <p:xfrm>
          <a:off x="480338" y="1308997"/>
          <a:ext cx="11213823" cy="137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9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935">
                  <a:extLst>
                    <a:ext uri="{9D8B030D-6E8A-4147-A177-3AD203B41FA5}">
                      <a16:colId xmlns:a16="http://schemas.microsoft.com/office/drawing/2014/main" val="3220620143"/>
                    </a:ext>
                  </a:extLst>
                </a:gridCol>
                <a:gridCol w="701548">
                  <a:extLst>
                    <a:ext uri="{9D8B030D-6E8A-4147-A177-3AD203B41FA5}">
                      <a16:colId xmlns:a16="http://schemas.microsoft.com/office/drawing/2014/main" val="2705089512"/>
                    </a:ext>
                  </a:extLst>
                </a:gridCol>
                <a:gridCol w="568884">
                  <a:extLst>
                    <a:ext uri="{9D8B030D-6E8A-4147-A177-3AD203B41FA5}">
                      <a16:colId xmlns:a16="http://schemas.microsoft.com/office/drawing/2014/main" val="3826095101"/>
                    </a:ext>
                  </a:extLst>
                </a:gridCol>
                <a:gridCol w="568884">
                  <a:extLst>
                    <a:ext uri="{9D8B030D-6E8A-4147-A177-3AD203B41FA5}">
                      <a16:colId xmlns:a16="http://schemas.microsoft.com/office/drawing/2014/main" val="3645500834"/>
                    </a:ext>
                  </a:extLst>
                </a:gridCol>
                <a:gridCol w="568884">
                  <a:extLst>
                    <a:ext uri="{9D8B030D-6E8A-4147-A177-3AD203B41FA5}">
                      <a16:colId xmlns:a16="http://schemas.microsoft.com/office/drawing/2014/main" val="2618381078"/>
                    </a:ext>
                  </a:extLst>
                </a:gridCol>
                <a:gridCol w="836462">
                  <a:extLst>
                    <a:ext uri="{9D8B030D-6E8A-4147-A177-3AD203B41FA5}">
                      <a16:colId xmlns:a16="http://schemas.microsoft.com/office/drawing/2014/main" val="2365500878"/>
                    </a:ext>
                  </a:extLst>
                </a:gridCol>
                <a:gridCol w="644210">
                  <a:extLst>
                    <a:ext uri="{9D8B030D-6E8A-4147-A177-3AD203B41FA5}">
                      <a16:colId xmlns:a16="http://schemas.microsoft.com/office/drawing/2014/main" val="3589677607"/>
                    </a:ext>
                  </a:extLst>
                </a:gridCol>
                <a:gridCol w="644210">
                  <a:extLst>
                    <a:ext uri="{9D8B030D-6E8A-4147-A177-3AD203B41FA5}">
                      <a16:colId xmlns:a16="http://schemas.microsoft.com/office/drawing/2014/main" val="2605633086"/>
                    </a:ext>
                  </a:extLst>
                </a:gridCol>
                <a:gridCol w="708293">
                  <a:extLst>
                    <a:ext uri="{9D8B030D-6E8A-4147-A177-3AD203B41FA5}">
                      <a16:colId xmlns:a16="http://schemas.microsoft.com/office/drawing/2014/main" val="267615173"/>
                    </a:ext>
                  </a:extLst>
                </a:gridCol>
                <a:gridCol w="708293">
                  <a:extLst>
                    <a:ext uri="{9D8B030D-6E8A-4147-A177-3AD203B41FA5}">
                      <a16:colId xmlns:a16="http://schemas.microsoft.com/office/drawing/2014/main" val="83709985"/>
                    </a:ext>
                  </a:extLst>
                </a:gridCol>
                <a:gridCol w="708293">
                  <a:extLst>
                    <a:ext uri="{9D8B030D-6E8A-4147-A177-3AD203B41FA5}">
                      <a16:colId xmlns:a16="http://schemas.microsoft.com/office/drawing/2014/main" val="525861917"/>
                    </a:ext>
                  </a:extLst>
                </a:gridCol>
                <a:gridCol w="613854">
                  <a:extLst>
                    <a:ext uri="{9D8B030D-6E8A-4147-A177-3AD203B41FA5}">
                      <a16:colId xmlns:a16="http://schemas.microsoft.com/office/drawing/2014/main" val="2268012820"/>
                    </a:ext>
                  </a:extLst>
                </a:gridCol>
                <a:gridCol w="78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191">
                  <a:extLst>
                    <a:ext uri="{9D8B030D-6E8A-4147-A177-3AD203B41FA5}">
                      <a16:colId xmlns:a16="http://schemas.microsoft.com/office/drawing/2014/main" val="305622831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과제명</a:t>
                      </a: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/>
                        <a:t>[AI</a:t>
                      </a:r>
                      <a:r>
                        <a:rPr lang="ko-KR" altLang="en-US" sz="1100" b="1" dirty="0"/>
                        <a:t>기반</a:t>
                      </a:r>
                      <a:r>
                        <a:rPr lang="en-US" altLang="ko-KR" sz="1100" b="1" dirty="0"/>
                        <a:t>] </a:t>
                      </a:r>
                      <a:r>
                        <a:rPr lang="ko-KR" altLang="en-US" sz="1100" b="1" dirty="0"/>
                        <a:t>경쟁사 동향 모니터링 시스템 구축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담당자</a:t>
                      </a:r>
                      <a:endParaRPr lang="ko-KR" altLang="en-US"/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5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과제</a:t>
                      </a:r>
                      <a:endParaRPr lang="en-US" altLang="ko-KR" sz="1100" b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내용</a:t>
                      </a: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sym typeface="Wingdings" panose="05000000000000000000" pitchFamily="2" charset="2"/>
                        </a:rPr>
                        <a:t>경쟁사 관련 정보를 실시간으로 수집 </a:t>
                      </a:r>
                      <a:r>
                        <a:rPr lang="en-US" altLang="ko-KR" sz="1100" b="0" i="0" kern="1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sym typeface="Wingdings" panose="05000000000000000000" pitchFamily="2" charset="2"/>
                        </a:rPr>
                        <a:t>· </a:t>
                      </a:r>
                      <a:r>
                        <a:rPr lang="ko-KR" altLang="en-US" sz="1100" b="0" i="0" kern="1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sym typeface="Wingdings" panose="05000000000000000000" pitchFamily="2" charset="2"/>
                        </a:rPr>
                        <a:t>분석하여 경영진의 의사결정 지원 및 주요 시장 환경 변화에 대한 데이터 기반의 신속한 대응</a:t>
                      </a:r>
                      <a:endParaRPr lang="ko-KR" altLang="en-US" sz="1100" dirty="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endParaRPr lang="ko-KR" altLang="en-US" sz="11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추진일정</a:t>
                      </a:r>
                      <a:endParaRPr lang="ko-KR" altLang="en-US" dirty="0"/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업무</a:t>
                      </a:r>
                      <a:endParaRPr lang="en-US" altLang="ko-KR" sz="1100" b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1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범위</a:t>
                      </a:r>
                      <a:endParaRPr lang="ko-KR" altLang="en-US" sz="11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>
                          <a:latin typeface="+mn-ea"/>
                          <a:ea typeface="+mn-ea"/>
                        </a:rPr>
                        <a:t>단일부서</a:t>
                      </a:r>
                      <a:endParaRPr lang="ko-KR" altLang="en-US" sz="1100" b="0" dirty="0"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>
                          <a:latin typeface="+mn-ea"/>
                          <a:ea typeface="+mn-ea"/>
                        </a:rPr>
                        <a:t>여러부서</a:t>
                      </a:r>
                      <a:endParaRPr lang="ko-KR" altLang="en-US" sz="1100" b="0" dirty="0"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전략적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중요도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3E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상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중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하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/>
                        <a:t>시스템</a:t>
                      </a:r>
                      <a:endParaRPr lang="en-US" altLang="ko-KR" sz="1100" b="1" dirty="0"/>
                    </a:p>
                    <a:p>
                      <a:pPr algn="ctr" latinLnBrk="1"/>
                      <a:r>
                        <a:rPr lang="ko-KR" altLang="en-US" sz="1100" b="1" dirty="0"/>
                        <a:t>보유</a:t>
                      </a:r>
                      <a:endParaRPr lang="en-US" altLang="ko-KR" sz="1100" b="1" dirty="0"/>
                    </a:p>
                    <a:p>
                      <a:pPr algn="ctr" latinLnBrk="1"/>
                      <a:r>
                        <a:rPr lang="ko-KR" altLang="en-US" sz="1100" b="1" dirty="0"/>
                        <a:t>여부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보유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/>
                        <a:t>미보유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업무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유형</a:t>
                      </a:r>
                      <a:br>
                        <a:rPr lang="en-US" altLang="ko-KR" sz="1100" b="1"/>
                      </a:br>
                      <a:r>
                        <a:rPr lang="en-US" altLang="ko-KR" sz="900" b="1"/>
                        <a:t>(</a:t>
                      </a:r>
                      <a:r>
                        <a:rPr lang="ko-KR" altLang="en-US" sz="900" b="1"/>
                        <a:t>중복선택가능</a:t>
                      </a:r>
                      <a:r>
                        <a:rPr lang="en-US" altLang="ko-KR" sz="900" b="1"/>
                        <a:t>)</a:t>
                      </a:r>
                      <a:endParaRPr lang="ko-KR" altLang="en-US" sz="900" b="1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0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/>
                        <a:t>Assist</a:t>
                      </a:r>
                      <a:endParaRPr lang="ko-KR" altLang="en-US" sz="110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/>
                        <a:t>Agent</a:t>
                      </a:r>
                      <a:endParaRPr lang="ko-KR" altLang="en-US" sz="110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/>
                        <a:t>생산성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ko-KR" altLang="en-US" sz="1100" b="1"/>
                        <a:t>효과</a:t>
                      </a:r>
                      <a:endParaRPr lang="en-US" altLang="ko-KR" sz="1100" b="1"/>
                    </a:p>
                    <a:p>
                      <a:pPr algn="ctr" latinLnBrk="1"/>
                      <a:r>
                        <a:rPr lang="en-US" altLang="ko-KR" sz="800" b="1"/>
                        <a:t>(</a:t>
                      </a:r>
                      <a:r>
                        <a:rPr lang="ko-KR" altLang="en-US" sz="800" b="1"/>
                        <a:t>인당</a:t>
                      </a:r>
                      <a:br>
                        <a:rPr lang="en-US" altLang="ko-KR" sz="800" b="1"/>
                      </a:br>
                      <a:r>
                        <a:rPr lang="ko-KR" altLang="en-US" sz="800" b="1"/>
                        <a:t> 생산성</a:t>
                      </a:r>
                      <a:r>
                        <a:rPr lang="en-US" altLang="ko-KR" sz="800" b="1"/>
                        <a:t>)</a:t>
                      </a:r>
                      <a:endParaRPr lang="ko-KR" altLang="en-US" sz="800" b="1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/>
                        <a:t>주관부서</a:t>
                      </a:r>
                      <a:endParaRPr lang="en-US" altLang="ko-KR" sz="800" b="1"/>
                    </a:p>
                    <a:p>
                      <a:pPr algn="ctr"/>
                      <a:r>
                        <a:rPr lang="en-US" altLang="ko-KR" sz="800" b="1"/>
                        <a:t> FTE</a:t>
                      </a:r>
                      <a:endParaRPr lang="ko-KR" altLang="en-US" sz="800" b="1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/>
                        <a:t>협업부서</a:t>
                      </a:r>
                      <a:endParaRPr lang="en-US" altLang="ko-KR" sz="800" b="1" dirty="0"/>
                    </a:p>
                    <a:p>
                      <a:pPr algn="ctr"/>
                      <a:r>
                        <a:rPr lang="en-US" altLang="ko-KR" sz="800" b="1" dirty="0"/>
                        <a:t>FTE</a:t>
                      </a:r>
                      <a:endParaRPr lang="ko-KR" altLang="en-US" sz="800" b="1" dirty="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>
                              <a:lumMod val="50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>
                              <a:lumMod val="50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>
                              <a:lumMod val="50000"/>
                            </a:prstClr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●</a:t>
                      </a: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72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11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marL="54000" marR="0" marT="36000" marB="36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493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9185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6760</TotalTime>
  <Words>284</Words>
  <Application>Microsoft Macintosh PowerPoint</Application>
  <PresentationFormat>와이드스크린</PresentationFormat>
  <Paragraphs>59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Wingdings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상희 김</dc:creator>
  <cp:lastModifiedBy>유구봉(Goo-Bong Yoo)_교수_DX교육섹션</cp:lastModifiedBy>
  <cp:revision>196</cp:revision>
  <dcterms:created xsi:type="dcterms:W3CDTF">2026-01-10T04:36:09Z</dcterms:created>
  <dcterms:modified xsi:type="dcterms:W3CDTF">2026-04-26T23:07:57Z</dcterms:modified>
</cp:coreProperties>
</file>